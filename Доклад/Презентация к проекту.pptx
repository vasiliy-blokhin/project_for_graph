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Default Extension="photo-1639322537228-f710d846310a" ContentType="image/photo-1639322537228-f710d846310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4"/>
  </p:notesMasterIdLst>
  <p:sldIdLst>
    <p:sldId id="256" r:id="rId2"/>
    <p:sldId id="258" r:id="rId3"/>
    <p:sldId id="259" r:id="rId4"/>
    <p:sldId id="271" r:id="rId5"/>
    <p:sldId id="260" r:id="rId6"/>
    <p:sldId id="262" r:id="rId7"/>
    <p:sldId id="263" r:id="rId8"/>
    <p:sldId id="264" r:id="rId9"/>
    <p:sldId id="265" r:id="rId10"/>
    <p:sldId id="267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35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4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430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04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4165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910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56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803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246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39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522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67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7563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643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1874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606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966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504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76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85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hoto-1639322537228-f710d846310a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n w="12700">
                  <a:solidFill>
                    <a:schemeClr val="bg1"/>
                  </a:solidFill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Качественная оценка риска покупки акции с использованием графовых баз данных на данных Московской биржи</a:t>
            </a:r>
            <a:endParaRPr lang="en-US" sz="4000" dirty="0">
              <a:ln w="12700">
                <a:solidFill>
                  <a:schemeClr val="bg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97756" y="4493788"/>
            <a:ext cx="3933645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подготовили:</a:t>
            </a:r>
            <a:b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Блохин В.М.</a:t>
            </a:r>
            <a:b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err="1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Нечистик</a:t>
            </a:r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М.Н.</a:t>
            </a:r>
          </a:p>
          <a:p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Сафонов В.В.</a:t>
            </a:r>
            <a:endParaRPr lang="ru-RU" sz="28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Цели и задачи проекта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Цель</a:t>
            </a: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: Разработать систему оценки риска покупки акции на основе графовой базы данных Neo4j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Задачи: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1. Собрать и структурировать торговые данные через ISS API Московской биржи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2. Разработать балльную модель оценки риска (7 показателей, max 50 баллов)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3. Спроектировать графовую схему «Сектор → Акция» в Neo4j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4. Реализовать визуализацию графа с цветовой кодировкой риска (</a:t>
            </a:r>
            <a:r>
              <a:rPr lang="en-US" sz="1800" dirty="0" err="1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PyVis</a:t>
            </a: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)</a:t>
            </a:r>
            <a:endParaRPr lang="ru-RU" sz="1800" dirty="0" smtClean="0">
              <a:ln>
                <a:solidFill>
                  <a:schemeClr val="bg1"/>
                </a:solidFill>
              </a:ln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5. Повысить навыки и умения работы с </a:t>
            </a:r>
            <a:r>
              <a:rPr lang="ru-RU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графовыми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СУБД (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Neo4j)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Теоретическая база: </a:t>
            </a:r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логика работы и условности алгоритма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Text 2"/>
          <p:cNvSpPr/>
          <p:nvPr/>
        </p:nvSpPr>
        <p:spPr>
          <a:xfrm>
            <a:off x="375920" y="1077918"/>
            <a:ext cx="11355832" cy="56175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/>
            <a:r>
              <a:rPr lang="ru-RU" sz="2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Расшифровка и значения основных параметров расчётов</a:t>
            </a:r>
            <a:endParaRPr lang="ru-RU" sz="2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WAPTOPREVWAPRICEPRCNT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процентное изменение средневзвешенной цены текущей сессии относительно средневзвешенной цены предыдущей сессии. </a:t>
            </a: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LCURRENTPRICE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позиция текущей цены внутри дневного торгового диапазона. </a:t>
            </a: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PRICEMINUSPREVWAPRICE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абсолютное отклонение текущей цены от средневзвешенной цены предыдущей сессии, выраженное в процентах от предыдущей средневзвешенной. </a:t>
            </a:r>
            <a:endParaRPr lang="ru-RU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LASTCNGTOLASTWAPRICE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отклонение цены последней сделки от средневзвешенной цены текущей сессии. </a:t>
            </a: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LASTCHANGEPRCNT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процентное изменение цены последней сделки относительно цены предыдущей сессии. </a:t>
            </a: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MARKETPRICE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рыночная цена относительно цены предыдущей сессии, выраженная в процентах. </a:t>
            </a:r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TRENDISSUECAPITALIZATION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тренд капитализации эмитента. </a:t>
            </a:r>
            <a:endParaRPr lang="ru-RU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Обоснование для дневной торговой сессии</a:t>
            </a:r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Во-первых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данные ISS API Московской биржи предоставляют агрегированные 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показатели.</a:t>
            </a:r>
          </a:p>
          <a:p>
            <a:pPr fontAlgn="base"/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Во-вторых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дневная периодичность соответствует задаче оценки риска покупки акции для среднесрочного 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инвестора.</a:t>
            </a:r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В-третьих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дневные данные обеспечивают стабильность расчётов. </a:t>
            </a:r>
          </a:p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В-четвёртых</a:t>
            </a:r>
            <a:r>
              <a:rPr lang="ru-RU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система работает в цикле с интервалом 10 минут, что позволяет отслеживать динамику внутри дня, но при этом использовать дневные показатели как базу для расчётов. </a:t>
            </a:r>
          </a:p>
          <a:p>
            <a:pPr fontAlgn="base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Теоретическая база: </a:t>
            </a:r>
            <a:r>
              <a:rPr lang="ru-RU" sz="2800" b="1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логика работы и условности алгоритма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Text 2"/>
          <p:cNvSpPr/>
          <p:nvPr/>
        </p:nvSpPr>
        <p:spPr>
          <a:xfrm>
            <a:off x="836590" y="1240478"/>
            <a:ext cx="10895162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fontAlgn="base"/>
            <a:r>
              <a:rPr lang="ru-RU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3. Обоснования условностей и </a:t>
            </a:r>
            <a:r>
              <a:rPr lang="ru-RU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упрощений</a:t>
            </a:r>
          </a:p>
          <a:p>
            <a:pPr fontAlgn="base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</a:t>
            </a:r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1. Отсутствие исторических данных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Система использует только текущие показатели сессии без учёта истории цен за недели или месяцы. 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2. Линейная агрегация показателей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Все семь компонентов суммируются линейно с фиксированными весами. 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</a:t>
            </a:r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3. </a:t>
            </a:r>
            <a:r>
              <a:rPr lang="ru-RU" sz="16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Дихотомная</a:t>
            </a:r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 классификация риска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Итоговая вероятность делится на три зоны: рост (≥30%), нейтрально (от –10% до 30%), падение (≤–10%). 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endParaRPr lang="ru-RU" sz="16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</a:t>
            </a:r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4. Отсутствие учёта макроэкономических факторов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Модель не включает процентные ставки, курсы валют, новостной фон или отчётность компаний. 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endParaRPr lang="ru-RU" sz="1600" b="1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</a:t>
            </a:r>
            <a:r>
              <a:rPr lang="ru-RU" sz="1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5. Фиксированные веса показателей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Веса назначены вручную на основе экспертной оценки, а не оптимизированы алгоритмически. 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endParaRPr lang="ru-RU" sz="1600" b="1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Упрощение 6. Использование только рублёвых инструментов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</a:endParaRPr>
          </a:p>
          <a:p>
            <a:pPr fontAlgn="base"/>
            <a:r>
              <a:rPr lang="ru-RU" sz="16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rPr>
              <a:t>Система фильтрует акции по CURRENCYID == 'SUR' и INSTRID == 'EQIN'.</a:t>
            </a:r>
          </a:p>
          <a:p>
            <a:pPr fontAlgn="base"/>
            <a:endParaRPr lang="ru-RU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34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Источник данных: ISS API Московской биржи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URL</a:t>
            </a: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: </a:t>
            </a: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iss.moex.com/</a:t>
            </a:r>
            <a:r>
              <a:rPr lang="en-US" sz="1800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iss</a:t>
            </a: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/engines/stock/markets/shares/</a:t>
            </a:r>
            <a:r>
              <a:rPr lang="en-US" sz="1800" dirty="0" err="1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securities.json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Два блока данных: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securities — справочная информация (SECID, SHORTNAME, SECTOR, ISSUECAPITALIZATION)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marketdata — торговые данные (LAST, WAPRICE, PREVWAPRICE, MARKETPRICE, HIGH, LOW)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Фильтр: BOARDID = TQBR (основной режим торгов </a:t>
            </a:r>
            <a:r>
              <a:rPr lang="en-US" sz="1800" dirty="0" err="1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акциями</a:t>
            </a: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)</a:t>
            </a:r>
            <a:endParaRPr lang="ru-RU" sz="1800" dirty="0" smtClean="0">
              <a:ln>
                <a:solidFill>
                  <a:schemeClr val="bg1"/>
                </a:solidFill>
              </a:ln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Фильтр: </a:t>
            </a:r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CURRENCYID = SUR </a:t>
            </a:r>
            <a:r>
              <a:rPr lang="ru-RU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(ограничения результатов рублевыми акциями)</a:t>
            </a: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Формат: JSON, обновление каждые 10 минут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Логика алгоритма оценки риска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 smtClean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7 </a:t>
            </a: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взвешенных показателей: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1. WAPTOPREVWAPRICEPRCNT — w=5 | отношение WAPRICE к PREVWAPRICE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2. LCURRENTPRICE — w=5 | отношение LAST к PREVWAPRICE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3. PRICEMINUSPREVWAPRICE — w=8 | разница LAST − PREVWAPRICE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4. LASTCNGTOLASTWAPRICE — w=5 | отношение LAST − WAPRICE к WAPRICE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5. LASTCHANGEPRCNT — w=10 | процент изменения LAST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6. MARKETPRICE — w=10 | отношение LAST к MARKETPRICE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7. TRENDISSUECAPITALIZATION — w=7 | отклонение капитализации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Максимум: 50 баллов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Математическая модель вероятности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Нормализация каждого показателя: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norm(x) = clamp(x / threshold, −1, 1)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Взвешенная сумма: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score = Σ (normᵢ × weightᵢ)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Итоговая вероятность: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P = (score / 50) × 100%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Классификация: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P ≥ +30% → «рост» (зелёный)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−10% &lt; P &lt; +30% → «нейтрально» (жёлтый)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P ≤ −10% → «падение» (красный)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https://images.unsplash.com/photo-1639322537228-f710d846310a?w=1600&amp;q=80&amp;auto=format&amp;fit=crop&amp;blend=000000&amp;blendalpha=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155" y="-189781"/>
            <a:ext cx="12606835" cy="714938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193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Cypher-запросы к Neo4j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2456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Создание узла акции: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```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MERGE (s:Share {secid: 'SBER'})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SET s.WAPTOPREVWAPRICEPRCNT = 1.02,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s.LASTCHANGEPRCNT = 0.5,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s.PROBABILITY = 35.0,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s.STATUS = 'рост',</a:t>
            </a: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s.updated_at = datetime()</a:t>
            </a:r>
          </a:p>
          <a:p>
            <a:pPr marL="0" indent="0">
              <a:buNone/>
            </a:pPr>
            <a:r>
              <a:rPr lang="en-US" sz="16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```</a:t>
            </a: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16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Добавление данных в БД внутри цикла</a:t>
            </a:r>
            <a:endParaRPr lang="ru-RU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NEO4J.execute_query(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"""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MERGE (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s:Share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{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secid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: $node})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SET s[$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rel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] = $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val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,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    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s.updated_at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= 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datetime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()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RETURN s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""",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node=node,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rel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=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rel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,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val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=</a:t>
            </a:r>
            <a:r>
              <a:rPr lang="en-US" sz="16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val</a:t>
            </a: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,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    database_="neo4j"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                    )</a:t>
            </a:r>
          </a:p>
          <a:p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/>
            </a:r>
            <a:br>
              <a:rPr lang="en-US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</a:br>
            <a:endParaRPr 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1600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45352" y="92456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Агрегация по секторам: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```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MATCH (s:Share)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RETURN s.SECTOR AS sector,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      sum(s.ISSUECAPITALIZATION) AS cap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ORDER BY cap DESC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```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Обновление вероятности: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```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MATCH (s:Share {secid: $secid})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SET s.PROBABILITY = $prob,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   s.STATUS = $status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```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Визуализация графа (PyVis)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Структура графа: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Секторы (5 шт.) — крупные синие узлы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Акции — малые узлы: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 • 🟢 Зелёные: P ≥ +30% (рост)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 • 🟡 Жёлтые: −10% &lt; P &lt; +30%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  • 🔴 Красные: P ≤ −10% (падение)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Рёбра: BELONGS_TO → сектор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92176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Техническая реализация: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PyVis → HTML с интерактивным графом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Цвет узла = STATUS акции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Размер узла = капитализация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При наведении: secid, вероятность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en-US" sz="1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• Экспорт в HTML + PNG</a:t>
            </a:r>
            <a:endParaRPr lang="en-US" sz="1600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751" y="1028910"/>
            <a:ext cx="5842001" cy="5476029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Преимущества графового подхода перед реляционными БД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✅ Нативная модель связей «сектор → акция» — без JOIN и внешних ключей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✅ Быстрый поиск аномалий: все акции сектора — за один обход ребра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✅ Масштабируемость: новый показатель = новое свойство узла, без миграции схемы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✅ Визуальная интерпретация: цвет + размер узла = риск + капитализация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✅ Гибкость: добавление новых типов узлов (индексы, новости) без реструктуризации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Выводы</a:t>
            </a:r>
            <a:endParaRPr lang="en-US" sz="280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1. Разработана и реализована работающая система оценки риска покупки акции на основе графовой БД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2. Графовая база данных Neo4j эффективно структурирует биржевые данные: сектора, акции и их связи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3. Балльная модель (7 показателей, max 50 баллов) выдаёт интерпретируемые вероятности роста/падения в диапазоне [−100%; +100%]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endParaRPr lang="en-US" sz="1800" dirty="0">
              <a:ln>
                <a:solidFill>
                  <a:schemeClr val="bg1"/>
                </a:solidFill>
              </a:ln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4. Визуализация PyVis с цветовой кодировкой упрощает принятие инвестиционных решений</a:t>
            </a:r>
            <a:endParaRPr lang="en-US" sz="18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121920"/>
            <a:ext cx="12425680" cy="7081520"/>
          </a:xfrm>
          <a:prstGeom prst="rect">
            <a:avLst/>
          </a:prstGeom>
          <a:solidFill>
            <a:schemeClr val="accent2">
              <a:lumMod val="75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</a:rPr>
              <a:t>Спасибо за внимание!</a:t>
            </a:r>
            <a:endParaRPr lang="en-US" sz="4400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</TotalTime>
  <Words>1022</Words>
  <Application>Microsoft Office PowerPoint</Application>
  <PresentationFormat>Широкоэкранный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Учетная запись Майкрософт</cp:lastModifiedBy>
  <cp:revision>14</cp:revision>
  <dcterms:created xsi:type="dcterms:W3CDTF">2026-06-28T16:49:38Z</dcterms:created>
  <dcterms:modified xsi:type="dcterms:W3CDTF">2026-06-28T19:15:29Z</dcterms:modified>
</cp:coreProperties>
</file>